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" dt="2026-10-01T17:13:17.524"/>
    <p1510:client id="{6EA880C7-3737-F9CF-9137-79F2A44831ED}" v="9" dt="2026-10-01T17:13:04.5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Rodríguez Balbás" userId="S::arodriguezb3@student.planetafp.es::5b317915-4fe7-4f95-a3b7-6cc0614c3d73" providerId="AD" clId="Web-{6EA880C7-3737-F9CF-9137-79F2A44831ED}"/>
    <pc:docChg chg="modSld">
      <pc:chgData name="Alex Rodríguez Balbás" userId="S::arodriguezb3@student.planetafp.es::5b317915-4fe7-4f95-a3b7-6cc0614c3d73" providerId="AD" clId="Web-{6EA880C7-3737-F9CF-9137-79F2A44831ED}" dt="2026-10-01T17:13:04.502" v="8" actId="20577"/>
      <pc:docMkLst>
        <pc:docMk/>
      </pc:docMkLst>
      <pc:sldChg chg="modSp">
        <pc:chgData name="Alex Rodríguez Balbás" userId="S::arodriguezb3@student.planetafp.es::5b317915-4fe7-4f95-a3b7-6cc0614c3d73" providerId="AD" clId="Web-{6EA880C7-3737-F9CF-9137-79F2A44831ED}" dt="2026-10-01T17:13:04.502" v="8" actId="20577"/>
        <pc:sldMkLst>
          <pc:docMk/>
          <pc:sldMk cId="0" sldId="257"/>
        </pc:sldMkLst>
        <pc:spChg chg="mod">
          <ac:chgData name="Alex Rodríguez Balbás" userId="S::arodriguezb3@student.planetafp.es::5b317915-4fe7-4f95-a3b7-6cc0614c3d73" providerId="AD" clId="Web-{6EA880C7-3737-F9CF-9137-79F2A44831ED}" dt="2026-10-01T17:13:04.502" v="8" actId="20577"/>
          <ac:spMkLst>
            <pc:docMk/>
            <pc:sldMk cId="0" sldId="257"/>
            <ac:spMk id="9" creationId="{00000000-0000-0000-0000-000000000000}"/>
          </ac:spMkLst>
        </pc:spChg>
      </pc:sldChg>
    </pc:docChg>
  </pc:docChgLst>
  <pc:docChgLst>
    <pc:chgData name="Alex Rodríguez Balbás" userId="S::arodriguezb3@student.planetafp.es::5b317915-4fe7-4f95-a3b7-6cc0614c3d73" providerId="AD" clId="Web-{00000000-0000-0000-0000-000000000000}"/>
    <pc:docChg chg="modSld">
      <pc:chgData name="Alex Rodríguez Balbás" userId="S::arodriguezb3@student.planetafp.es::5b317915-4fe7-4f95-a3b7-6cc0614c3d73" providerId="AD" clId="Web-{00000000-0000-0000-0000-000000000000}" dt="2026-10-01T17:13:17.524" v="0" actId="20577"/>
      <pc:docMkLst>
        <pc:docMk/>
      </pc:docMkLst>
      <pc:sldChg chg="modSp">
        <pc:chgData name="Alex Rodríguez Balbás" userId="S::arodriguezb3@student.planetafp.es::5b317915-4fe7-4f95-a3b7-6cc0614c3d73" providerId="AD" clId="Web-{00000000-0000-0000-0000-000000000000}" dt="2026-10-01T17:13:17.524" v="0" actId="20577"/>
        <pc:sldMkLst>
          <pc:docMk/>
          <pc:sldMk cId="0" sldId="257"/>
        </pc:sldMkLst>
        <pc:spChg chg="mod">
          <ac:chgData name="Alex Rodríguez Balbás" userId="S::arodriguezb3@student.planetafp.es::5b317915-4fe7-4f95-a3b7-6cc0614c3d73" providerId="AD" clId="Web-{00000000-0000-0000-0000-000000000000}" dt="2026-10-01T17:13:17.524" v="0" actId="20577"/>
          <ac:spMkLst>
            <pc:docMk/>
            <pc:sldMk cId="0" sldId="257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SHRDLU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31520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D7E1F0"/>
                </a:solidFill>
              </a:defRPr>
            </a:pPr>
            <a:r>
              <a:t>Uno de los sistemas más avanzados de la primera generación de la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4846320" cy="2057400"/>
          </a:xfrm>
          <a:prstGeom prst="roundRect">
            <a:avLst/>
          </a:prstGeom>
          <a:solidFill>
            <a:srgbClr val="F2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rtlCol="0" anchor="ctr"/>
          <a:lstStyle/>
          <a:p>
            <a:pPr algn="ctr">
              <a:defRPr sz="1800" b="1">
                <a:solidFill>
                  <a:srgbClr val="1C2D4B"/>
                </a:solidFill>
              </a:defRPr>
            </a:pPr>
            <a:r>
              <a:t>¿Qué es?</a:t>
            </a:r>
          </a:p>
          <a:p>
            <a:pPr>
              <a:spcBef>
                <a:spcPts val="800"/>
              </a:spcBef>
              <a:defRPr sz="1900">
                <a:solidFill>
                  <a:srgbClr val="282D37"/>
                </a:solidFill>
              </a:defRPr>
            </a:pPr>
            <a:r>
              <a:t>Programa de inteligencia artificial creado en 1970 por Terry Winograd.</a:t>
            </a:r>
            <a:br/>
            <a:br/>
            <a:r>
              <a:t>Permitía comunicarse con el ordenador mediante lenguaje natural.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49039"/>
            <a:ext cx="4846320" cy="1828800"/>
          </a:xfrm>
          <a:prstGeom prst="roundRect">
            <a:avLst/>
          </a:prstGeom>
          <a:solidFill>
            <a:srgbClr val="F2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rtlCol="0" anchor="ctr"/>
          <a:lstStyle/>
          <a:p>
            <a:pPr algn="ctr">
              <a:defRPr sz="1800" b="1">
                <a:solidFill>
                  <a:srgbClr val="1C2D4B"/>
                </a:solidFill>
              </a:defRPr>
            </a:pPr>
            <a:r>
              <a:t>¿Qué lo hacía especial?</a:t>
            </a:r>
          </a:p>
          <a:p>
            <a:pPr>
              <a:spcBef>
                <a:spcPts val="800"/>
              </a:spcBef>
              <a:defRPr sz="1900">
                <a:solidFill>
                  <a:srgbClr val="282D37"/>
                </a:solidFill>
              </a:defRPr>
            </a:pPr>
            <a:r>
              <a:t>Tenía un mundo virtual de bloques en el que podía interpretar órdenes y realizar acciones.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D87"/>
                </a:solidFill>
              </a:defRPr>
            </a:pPr>
            <a:r>
              <a:t>SHRDLU · Terry Winograd · 1970</a:t>
            </a:r>
          </a:p>
        </p:txBody>
      </p:sp>
      <p:pic>
        <p:nvPicPr>
          <p:cNvPr id="10" name="Imagen 9" descr="Winograd, Terry – Encounters with HCI Pioneers – A Personal Photo Journal">
            <a:extLst>
              <a:ext uri="{FF2B5EF4-FFF2-40B4-BE49-F238E27FC236}">
                <a16:creationId xmlns:a16="http://schemas.microsoft.com/office/drawing/2014/main" id="{1A91D347-A298-0E2F-2C91-900D4FF1F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508760"/>
            <a:ext cx="4023360" cy="40690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¿Cómo funcionaba?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31520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D7E1F0"/>
                </a:solidFill>
              </a:defRPr>
            </a:pPr>
            <a:r>
              <a:t>Entender una orden y convertirla en una acción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337560" cy="1508760"/>
          </a:xfrm>
          <a:prstGeom prst="roundRect">
            <a:avLst/>
          </a:prstGeom>
          <a:solidFill>
            <a:srgbClr val="F2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rtlCol="0" anchor="ctr"/>
          <a:lstStyle/>
          <a:p>
            <a:pPr algn="ctr">
              <a:defRPr sz="1800" b="1">
                <a:solidFill>
                  <a:srgbClr val="1C2D4B"/>
                </a:solidFill>
              </a:defRPr>
            </a:pPr>
            <a:r>
              <a:t>① El usuario escribe</a:t>
            </a:r>
          </a:p>
          <a:p>
            <a:pPr>
              <a:spcBef>
                <a:spcPts val="800"/>
              </a:spcBef>
              <a:defRPr sz="1800">
                <a:solidFill>
                  <a:srgbClr val="282D37"/>
                </a:solidFill>
              </a:defRPr>
            </a:pPr>
            <a:r>
              <a:t>Una instrucción en lenguaje natural.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46120"/>
            <a:ext cx="3337560" cy="1508760"/>
          </a:xfrm>
          <a:prstGeom prst="roundRect">
            <a:avLst/>
          </a:prstGeom>
          <a:solidFill>
            <a:srgbClr val="F2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rtlCol="0" anchor="ctr"/>
          <a:lstStyle/>
          <a:p>
            <a:pPr algn="ctr">
              <a:defRPr sz="1800" b="1">
                <a:solidFill>
                  <a:srgbClr val="1C2D4B"/>
                </a:solidFill>
              </a:defRPr>
            </a:pPr>
            <a:r>
              <a:t>② SHRDLU interpreta</a:t>
            </a:r>
          </a:p>
          <a:p>
            <a:pPr>
              <a:spcBef>
                <a:spcPts val="800"/>
              </a:spcBef>
              <a:defRPr sz="1800">
                <a:solidFill>
                  <a:srgbClr val="282D37"/>
                </a:solidFill>
              </a:defRPr>
            </a:pPr>
            <a:r>
              <a:t>Identifica los objetos y entiende la relación entre ellos.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983480"/>
            <a:ext cx="3337560" cy="1143000"/>
          </a:xfrm>
          <a:prstGeom prst="roundRect">
            <a:avLst/>
          </a:prstGeom>
          <a:solidFill>
            <a:srgbClr val="F2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rtlCol="0" anchor="ctr"/>
          <a:lstStyle/>
          <a:p>
            <a:pPr algn="ctr">
              <a:defRPr sz="1800" b="1">
                <a:solidFill>
                  <a:srgbClr val="1C2D4B"/>
                </a:solidFill>
              </a:defRPr>
            </a:pPr>
            <a:r>
              <a:t>③ Ejecuta</a:t>
            </a:r>
          </a:p>
          <a:p>
            <a:pPr>
              <a:spcBef>
                <a:spcPts val="800"/>
              </a:spcBef>
              <a:defRPr sz="1800">
                <a:solidFill>
                  <a:srgbClr val="282D37"/>
                </a:solidFill>
              </a:defRPr>
            </a:pPr>
            <a:r>
              <a:t>Realiza la acción en el mundo virtual.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508760"/>
            <a:ext cx="7223760" cy="1874519"/>
          </a:xfrm>
          <a:prstGeom prst="roundRect">
            <a:avLst/>
          </a:prstGeom>
          <a:solidFill>
            <a:srgbClr val="EEF4EE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45720" rtlCol="0" anchor="ctr"/>
          <a:lstStyle/>
          <a:p>
            <a:pPr algn="ctr">
              <a:defRPr sz="1800" b="1">
                <a:solidFill>
                  <a:srgbClr val="1C2D4B"/>
                </a:solidFill>
              </a:defRPr>
            </a:pPr>
            <a:r>
              <a:rPr dirty="0"/>
              <a:t>EJEMPLO</a:t>
            </a:r>
          </a:p>
          <a:p>
            <a:pPr>
              <a:spcBef>
                <a:spcPts val="800"/>
              </a:spcBef>
              <a:defRPr sz="1800">
                <a:solidFill>
                  <a:srgbClr val="282D37"/>
                </a:solidFill>
              </a:defRPr>
            </a:pPr>
            <a:r>
              <a:rPr dirty="0"/>
              <a:t>“Pon el cubo rojo sobre el cubo verde”.</a:t>
            </a:r>
            <a:br>
              <a:rPr dirty="0"/>
            </a:br>
            <a:br>
              <a:rPr dirty="0"/>
            </a:br>
            <a:r>
              <a:rPr dirty="0"/>
              <a:t>→ Comprende los objetos</a:t>
            </a:r>
            <a:br>
              <a:rPr dirty="0"/>
            </a:br>
            <a:r>
              <a:rPr dirty="0"/>
              <a:t>→ Entiende “sobre”</a:t>
            </a:r>
            <a:br>
              <a:rPr dirty="0"/>
            </a:br>
            <a:r>
              <a:rPr dirty="0"/>
              <a:t>→ Muev</a:t>
            </a:r>
            <a:r>
              <a:rPr dirty="0">
                <a:solidFill>
                  <a:schemeClr val="tx1"/>
                </a:solidFill>
              </a:rPr>
              <a:t>e el bloque correspondiente</a:t>
            </a:r>
            <a:endParaRPr lang="es-ES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D87"/>
                </a:solidFill>
              </a:defRPr>
            </a:pPr>
            <a:r>
              <a:t>SHRDLU · Terry Winograd · 1970</a:t>
            </a:r>
          </a:p>
        </p:txBody>
      </p:sp>
      <p:pic>
        <p:nvPicPr>
          <p:cNvPr id="14" name="Imagen 13" descr="SHRDLU: An early natural-language understanding computer ...">
            <a:extLst>
              <a:ext uri="{FF2B5EF4-FFF2-40B4-BE49-F238E27FC236}">
                <a16:creationId xmlns:a16="http://schemas.microsoft.com/office/drawing/2014/main" id="{25DEE4D7-53D0-413F-9AA6-2FB3052D8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059" y="3476197"/>
            <a:ext cx="4762500" cy="32099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Las 3 capacidades de SHRDLU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31520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D7E1F0"/>
                </a:solidFill>
              </a:defRPr>
            </a:pPr>
            <a:r>
              <a:t>Lenguaje · razonamiento · acción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59" y="1508760"/>
            <a:ext cx="4862544" cy="2011680"/>
          </a:xfrm>
          <a:prstGeom prst="roundRect">
            <a:avLst/>
          </a:prstGeom>
          <a:solidFill>
            <a:srgbClr val="F2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rtlCol="0" anchor="ctr"/>
          <a:lstStyle/>
          <a:p>
            <a:pPr algn="ctr">
              <a:defRPr sz="1800" b="1">
                <a:solidFill>
                  <a:srgbClr val="1C2D4B"/>
                </a:solidFill>
              </a:defRPr>
            </a:pPr>
            <a:r>
              <a:t>🗣️ 1. Lenguaje natural</a:t>
            </a:r>
          </a:p>
          <a:p>
            <a:pPr>
              <a:spcBef>
                <a:spcPts val="800"/>
              </a:spcBef>
              <a:defRPr sz="1900">
                <a:solidFill>
                  <a:srgbClr val="282D37"/>
                </a:solidFill>
              </a:defRPr>
            </a:pPr>
            <a:r>
              <a:t>Comprender y responder frases escritas por una persona.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59" y="3794760"/>
            <a:ext cx="4862543" cy="2011680"/>
          </a:xfrm>
          <a:prstGeom prst="roundRect">
            <a:avLst/>
          </a:prstGeom>
          <a:solidFill>
            <a:srgbClr val="F2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rtlCol="0" anchor="ctr"/>
          <a:lstStyle/>
          <a:p>
            <a:pPr algn="ctr">
              <a:defRPr sz="1800" b="1">
                <a:solidFill>
                  <a:srgbClr val="1C2D4B"/>
                </a:solidFill>
              </a:defRPr>
            </a:pPr>
            <a:r>
              <a:t>🧠 2. Razonamiento lógico</a:t>
            </a:r>
          </a:p>
          <a:p>
            <a:pPr>
              <a:spcBef>
                <a:spcPts val="800"/>
              </a:spcBef>
              <a:defRPr sz="1900">
                <a:solidFill>
                  <a:srgbClr val="282D37"/>
                </a:solidFill>
              </a:defRPr>
            </a:pPr>
            <a:r>
              <a:t>Analizar la orden y planificar los pasos necesarios.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35096" y="1508760"/>
            <a:ext cx="4862544" cy="2011680"/>
          </a:xfrm>
          <a:prstGeom prst="roundRect">
            <a:avLst/>
          </a:prstGeom>
          <a:solidFill>
            <a:srgbClr val="F2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rtlCol="0" anchor="ctr"/>
          <a:lstStyle/>
          <a:p>
            <a:pPr algn="ctr">
              <a:defRPr sz="1800" b="1">
                <a:solidFill>
                  <a:srgbClr val="1C2D4B"/>
                </a:solidFill>
              </a:defRPr>
            </a:pPr>
            <a:r>
              <a:rPr dirty="0"/>
              <a:t>🤖 3. </a:t>
            </a:r>
            <a:r>
              <a:rPr dirty="0" err="1"/>
              <a:t>Percepción</a:t>
            </a:r>
            <a:r>
              <a:rPr dirty="0"/>
              <a:t> y </a:t>
            </a:r>
            <a:r>
              <a:rPr dirty="0" err="1"/>
              <a:t>acción</a:t>
            </a:r>
            <a:endParaRPr dirty="0"/>
          </a:p>
          <a:p>
            <a:pPr>
              <a:spcBef>
                <a:spcPts val="800"/>
              </a:spcBef>
              <a:defRPr sz="1900">
                <a:solidFill>
                  <a:srgbClr val="282D37"/>
                </a:solidFill>
              </a:defRPr>
            </a:pPr>
            <a:r>
              <a:rPr dirty="0" err="1"/>
              <a:t>Identificar</a:t>
            </a:r>
            <a:r>
              <a:rPr dirty="0"/>
              <a:t> </a:t>
            </a:r>
            <a:r>
              <a:rPr dirty="0" err="1"/>
              <a:t>objetos</a:t>
            </a:r>
            <a:r>
              <a:rPr dirty="0"/>
              <a:t> y </a:t>
            </a:r>
            <a:r>
              <a:rPr dirty="0" err="1"/>
              <a:t>manipularlos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el </a:t>
            </a:r>
            <a:r>
              <a:rPr dirty="0" err="1"/>
              <a:t>entorno</a:t>
            </a:r>
            <a:r>
              <a:rPr dirty="0"/>
              <a:t> virtual.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35096" y="3794760"/>
            <a:ext cx="4862543" cy="2011680"/>
          </a:xfrm>
          <a:prstGeom prst="roundRect">
            <a:avLst/>
          </a:prstGeom>
          <a:solidFill>
            <a:srgbClr val="EEF4EE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rtlCol="0" anchor="ctr"/>
          <a:lstStyle/>
          <a:p>
            <a:pPr algn="ctr">
              <a:defRPr sz="1800" b="1">
                <a:solidFill>
                  <a:srgbClr val="1C2D4B"/>
                </a:solidFill>
              </a:defRPr>
            </a:pPr>
            <a:r>
              <a:rPr dirty="0"/>
              <a:t>EN RESUMEN</a:t>
            </a:r>
          </a:p>
          <a:p>
            <a:pPr>
              <a:spcBef>
                <a:spcPts val="800"/>
              </a:spcBef>
              <a:defRPr sz="2200">
                <a:solidFill>
                  <a:srgbClr val="282D37"/>
                </a:solidFill>
              </a:defRPr>
            </a:pPr>
            <a:r>
              <a:rPr dirty="0"/>
              <a:t>ENTENDER → RAZONAR → ACTUAR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D87"/>
                </a:solidFill>
              </a:defRPr>
            </a:pPr>
            <a:r>
              <a:t>SHRDLU · Terry Winograd · 1970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¿Por qué fue importante?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31520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D7E1F0"/>
                </a:solidFill>
              </a:defRPr>
            </a:pPr>
            <a:r>
              <a:t>Una demostración impresionante para su época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D87"/>
                </a:solidFill>
              </a:defRPr>
            </a:pPr>
            <a:r>
              <a:rPr dirty="0"/>
              <a:t>SHRDLU · Terry Winograd · 1970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000E3FF8-F545-5A09-60B8-5F290E669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999" y="1508760"/>
            <a:ext cx="935969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Limitaciones y conclusión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31520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D7E1F0"/>
                </a:solidFill>
              </a:defRPr>
            </a:pPr>
            <a:r>
              <a:t>Un gran avance, pero dentro de un mundo muy concreto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1" y="2880360"/>
            <a:ext cx="4892040" cy="1828800"/>
          </a:xfrm>
          <a:prstGeom prst="roundRect">
            <a:avLst/>
          </a:prstGeom>
          <a:solidFill>
            <a:srgbClr val="F2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rtlCol="0" anchor="ctr"/>
          <a:lstStyle/>
          <a:p>
            <a:pPr algn="ctr">
              <a:defRPr sz="1800" b="1">
                <a:solidFill>
                  <a:srgbClr val="1C2D4B"/>
                </a:solidFill>
              </a:defRPr>
            </a:pPr>
            <a:r>
              <a:t>⚠️ Limitación principal</a:t>
            </a:r>
          </a:p>
          <a:p>
            <a:pPr>
              <a:spcBef>
                <a:spcPts val="800"/>
              </a:spcBef>
              <a:defRPr sz="1800">
                <a:solidFill>
                  <a:srgbClr val="282D37"/>
                </a:solidFill>
              </a:defRPr>
            </a:pPr>
            <a:r>
              <a:t>Su conocimiento estaba limitado al mundo artificial de los bloques.</a:t>
            </a:r>
            <a:br/>
            <a:br/>
            <a:r>
              <a:t>No comprendía el mundo real de forma general.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59880" y="2818417"/>
            <a:ext cx="4892040" cy="1920240"/>
          </a:xfrm>
          <a:prstGeom prst="roundRect">
            <a:avLst/>
          </a:prstGeom>
          <a:solidFill>
            <a:srgbClr val="EEF4EE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rtlCol="0" anchor="ctr"/>
          <a:lstStyle/>
          <a:p>
            <a:pPr algn="ctr">
              <a:defRPr sz="1800" b="1">
                <a:solidFill>
                  <a:srgbClr val="1C2D4B"/>
                </a:solidFill>
              </a:defRPr>
            </a:pPr>
            <a:r>
              <a:rPr dirty="0"/>
              <a:t>💡 </a:t>
            </a:r>
            <a:r>
              <a:rPr dirty="0" err="1"/>
              <a:t>Conclusión</a:t>
            </a:r>
            <a:endParaRPr dirty="0"/>
          </a:p>
          <a:p>
            <a:pPr>
              <a:spcBef>
                <a:spcPts val="800"/>
              </a:spcBef>
              <a:defRPr sz="1900">
                <a:solidFill>
                  <a:srgbClr val="282D37"/>
                </a:solidFill>
              </a:defRPr>
            </a:pPr>
            <a:r>
              <a:rPr dirty="0"/>
              <a:t>SHRDLU </a:t>
            </a:r>
            <a:r>
              <a:rPr dirty="0" err="1"/>
              <a:t>demostró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máquina</a:t>
            </a:r>
            <a:r>
              <a:rPr dirty="0"/>
              <a:t> </a:t>
            </a:r>
            <a:r>
              <a:rPr dirty="0" err="1"/>
              <a:t>podía</a:t>
            </a:r>
            <a:r>
              <a:rPr dirty="0"/>
              <a:t> </a:t>
            </a:r>
            <a:r>
              <a:rPr dirty="0" err="1"/>
              <a:t>combinar</a:t>
            </a:r>
            <a:r>
              <a:rPr dirty="0"/>
              <a:t>:</a:t>
            </a:r>
            <a:br>
              <a:rPr dirty="0"/>
            </a:br>
            <a:r>
              <a:rPr dirty="0"/>
              <a:t>LENGUAJE + RAZONAMIENTO + ACCIÓN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D87"/>
                </a:solidFill>
              </a:defRPr>
            </a:pPr>
            <a:r>
              <a:t>SHRDLU · Terry Winograd · 1970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298</Words>
  <Application>Microsoft Office PowerPoint</Application>
  <PresentationFormat>Panorámica</PresentationFormat>
  <Paragraphs>44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6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Alex RODRIGUEZ Balbas</dc:creator>
  <cp:keywords/>
  <dc:description>generated using python-pptx</dc:description>
  <cp:lastModifiedBy>Rodríguez Balbós. Alex</cp:lastModifiedBy>
  <cp:revision>10</cp:revision>
  <dcterms:created xsi:type="dcterms:W3CDTF">2013-01-27T09:14:16Z</dcterms:created>
  <dcterms:modified xsi:type="dcterms:W3CDTF">2026-10-01T17:13:23Z</dcterms:modified>
  <cp:category/>
</cp:coreProperties>
</file>